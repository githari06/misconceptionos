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240765f6b94816" /><Relationship Type="http://schemas.openxmlformats.org/officeDocument/2006/relationships/extended-properties" Target="/docProps/app.xml" Id="R437f2f6f70eb4743" /><Relationship Type="http://schemas.openxmlformats.org/officeDocument/2006/relationships/officeDocument" Target="/ppt/presentation.xml" Id="Rb783a3325c6f4d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b241cba31646a0"/>
  </p:sldMasterIdLst>
  <p:notesMasterIdLst>
    <p:notesMasterId xmlns:r="http://schemas.openxmlformats.org/officeDocument/2006/relationships" r:id="R22a731b700394bc3"/>
  </p:notesMasterIdLst>
  <p:sldIdLst>
    <p:sldId xmlns:r="http://schemas.openxmlformats.org/officeDocument/2006/relationships" id="256" r:id="R57840e2937234d3b"/>
    <p:sldId xmlns:r="http://schemas.openxmlformats.org/officeDocument/2006/relationships" id="257" r:id="R26885c34175447cd"/>
    <p:sldId xmlns:r="http://schemas.openxmlformats.org/officeDocument/2006/relationships" id="258" r:id="R3d38445d9a05423d"/>
    <p:sldId xmlns:r="http://schemas.openxmlformats.org/officeDocument/2006/relationships" id="259" r:id="R76f576f67b534e1d"/>
    <p:sldId xmlns:r="http://schemas.openxmlformats.org/officeDocument/2006/relationships" id="260" r:id="R410802450f784d38"/>
    <p:sldId xmlns:r="http://schemas.openxmlformats.org/officeDocument/2006/relationships" id="261" r:id="R068bb9d75141477a"/>
    <p:sldId xmlns:r="http://schemas.openxmlformats.org/officeDocument/2006/relationships" id="262" r:id="Rdbb4c9a2302e4294"/>
    <p:sldId xmlns:r="http://schemas.openxmlformats.org/officeDocument/2006/relationships" id="263" r:id="R3eafc57687b24e19"/>
    <p:sldId xmlns:r="http://schemas.openxmlformats.org/officeDocument/2006/relationships" id="264" r:id="R6c0945fc9c7545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b5833ec63e4694" /><Relationship Type="http://schemas.openxmlformats.org/officeDocument/2006/relationships/slideMaster" Target="/ppt/slideMasters/slideMaster1.xml" Id="Ra6b241cba31646a0" /><Relationship Type="http://schemas.openxmlformats.org/officeDocument/2006/relationships/notesMaster" Target="/ppt/notesMasters/notesMaster1.xml" Id="R22a731b700394bc3" /><Relationship Type="http://schemas.openxmlformats.org/officeDocument/2006/relationships/presProps" Target="/ppt/presProps.xml" Id="R4b1295e3080b4128" /><Relationship Type="http://schemas.openxmlformats.org/officeDocument/2006/relationships/tableStyles" Target="/ppt/tableStyles.xml" Id="Rec3782752c324534" /><Relationship Type="http://schemas.openxmlformats.org/officeDocument/2006/relationships/slide" Target="/ppt/slides/slide1.xml" Id="R57840e2937234d3b" /><Relationship Type="http://schemas.openxmlformats.org/officeDocument/2006/relationships/slide" Target="/ppt/slides/slide2.xml" Id="R26885c34175447cd" /><Relationship Type="http://schemas.openxmlformats.org/officeDocument/2006/relationships/slide" Target="/ppt/slides/slide3.xml" Id="R3d38445d9a05423d" /><Relationship Type="http://schemas.openxmlformats.org/officeDocument/2006/relationships/slide" Target="/ppt/slides/slide4.xml" Id="R76f576f67b534e1d" /><Relationship Type="http://schemas.openxmlformats.org/officeDocument/2006/relationships/slide" Target="/ppt/slides/slide5.xml" Id="R410802450f784d38" /><Relationship Type="http://schemas.openxmlformats.org/officeDocument/2006/relationships/slide" Target="/ppt/slides/slide6.xml" Id="R068bb9d75141477a" /><Relationship Type="http://schemas.openxmlformats.org/officeDocument/2006/relationships/slide" Target="/ppt/slides/slide7.xml" Id="Rdbb4c9a2302e4294" /><Relationship Type="http://schemas.openxmlformats.org/officeDocument/2006/relationships/slide" Target="/ppt/slides/slide8.xml" Id="R3eafc57687b24e19" /><Relationship Type="http://schemas.openxmlformats.org/officeDocument/2006/relationships/slide" Target="/ppt/slides/slide9.xml" Id="R6c0945fc9c7545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256b5d7b534c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1803744b1542dc" /><Relationship Type="http://schemas.openxmlformats.org/officeDocument/2006/relationships/notesMaster" Target="/ppt/notesMasters/notesMaster1.xml" Id="R217884f6158f4d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9c6ff603a448ec" /><Relationship Type="http://schemas.openxmlformats.org/officeDocument/2006/relationships/notesMaster" Target="/ppt/notesMasters/notesMaster1.xml" Id="Rfa2b87c44e0442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8fd5e907194abb" /><Relationship Type="http://schemas.openxmlformats.org/officeDocument/2006/relationships/notesMaster" Target="/ppt/notesMasters/notesMaster1.xml" Id="R04b99ce363c34c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a1922f31124888" /><Relationship Type="http://schemas.openxmlformats.org/officeDocument/2006/relationships/notesMaster" Target="/ppt/notesMasters/notesMaster1.xml" Id="Rd01d6200f4024f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b4ed1b89fc4e50" /><Relationship Type="http://schemas.openxmlformats.org/officeDocument/2006/relationships/notesMaster" Target="/ppt/notesMasters/notesMaster1.xml" Id="R643f37e67e2b48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8681d8ee4e4c04" /><Relationship Type="http://schemas.openxmlformats.org/officeDocument/2006/relationships/notesMaster" Target="/ppt/notesMasters/notesMaster1.xml" Id="R9a4a1ca061d140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0b9faa3ad54509" /><Relationship Type="http://schemas.openxmlformats.org/officeDocument/2006/relationships/notesMaster" Target="/ppt/notesMasters/notesMaster1.xml" Id="R9427bdaa1c2a47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2dcc8c7efc4950" /><Relationship Type="http://schemas.openxmlformats.org/officeDocument/2006/relationships/notesMaster" Target="/ppt/notesMasters/notesMaster1.xml" Id="Rcbe942e3fa4646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ba25cfe47a4d60" /><Relationship Type="http://schemas.openxmlformats.org/officeDocument/2006/relationships/notesMaster" Target="/ppt/notesMasters/notesMaster1.xml" Id="R588f928d3bda4f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deck based on the current LearnAble / MisconceptionOS working build. The supplied prior submission was used as a content reference; its editable geometry could not be imported by the bundled presentation tool.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framing is based on the project README and current product behavior. No external market or performance claims are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lifecycle maps to LessonPhase in backend/app/models.py and routing in backend/app/socratic_policy.py.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describes the live behavior verified with the current app using the photoelectric effect as an unfamiliar physics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based on the current repository: backend/app/main.py, socratic_policy.py, diagnostic_engine.py, learner_memory.py, generator.py, safety_guard.py, and audio_service.py.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names are taken from the current frontend package.json, backend imports/config.py,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Alignment claims map directly to the implemented safety guard, state machine, learner memory, and stress-test components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Current-state claims are based on live local endpoint tests during this build session and the working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 for the current LearnAble physics tutor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bc9e9904341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ddbf5eabf540fe" /><Relationship Type="http://schemas.openxmlformats.org/officeDocument/2006/relationships/slideLayout" Target="/ppt/slideLayouts/slideLayout1.xml" Id="Rabbc3a405dcc43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bc3a405dcc43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85983abca4de7" /><Relationship Type="http://schemas.openxmlformats.org/officeDocument/2006/relationships/notesSlide" Target="/ppt/notesSlides/notesSlide1.xml" Id="Ra232a4deb90b4e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4ba88925f4460" /><Relationship Type="http://schemas.openxmlformats.org/officeDocument/2006/relationships/notesSlide" Target="/ppt/notesSlides/notesSlide2.xml" Id="Rd95839bc2efe45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6d88cb40745b1" /><Relationship Type="http://schemas.openxmlformats.org/officeDocument/2006/relationships/notesSlide" Target="/ppt/notesSlides/notesSlide3.xml" Id="Rf06fd8ecd65c4c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baaf9e31341ab" /><Relationship Type="http://schemas.openxmlformats.org/officeDocument/2006/relationships/notesSlide" Target="/ppt/notesSlides/notesSlide4.xml" Id="Rdd35c99972734c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49c59cd234ae7" /><Relationship Type="http://schemas.openxmlformats.org/officeDocument/2006/relationships/notesSlide" Target="/ppt/notesSlides/notesSlide5.xml" Id="R629a0f82684842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b221d5619451f" /><Relationship Type="http://schemas.openxmlformats.org/officeDocument/2006/relationships/notesSlide" Target="/ppt/notesSlides/notesSlide6.xml" Id="Rcf70acb5712c4d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6b1b5ab50452f" /><Relationship Type="http://schemas.openxmlformats.org/officeDocument/2006/relationships/notesSlide" Target="/ppt/notesSlides/notesSlide7.xml" Id="R93219863247742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7934bf5974c21" /><Relationship Type="http://schemas.openxmlformats.org/officeDocument/2006/relationships/notesSlide" Target="/ppt/notesSlides/notesSlide8.xml" Id="R5bb1efa5201c47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55254a7ea445d" /><Relationship Type="http://schemas.openxmlformats.org/officeDocument/2006/relationships/notesSlide" Target="/ppt/notesSlides/notesSlide9.xml" Id="Ra738b04577a04a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0A590-CB98-4388-8555-76E2CD20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E6256-6D3A-4582-B3F8-6742403A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B6FCD-1C7C-4770-ABA1-AD3D3E47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7850"/>
            <a:ext cx="20193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32E6D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0E0B3-D207-4FE1-82E6-EC8877AB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14550"/>
            <a:ext cx="14859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07840-FEE5-4F56-A717-0EA63514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14575"/>
            <a:ext cx="742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DBDB5-1DCC-4221-BBF0-CFB43B76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YUVA MEGATHON 2026  /  DOMAIN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6036A-CDF8-4E16-8E0E-52FB9943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881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LearnAble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729ED-ADA7-44A4-9C41-49B7CA25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62C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62C8FF"/>
                </a:solidFill>
                <a:latin typeface="Arial"/>
                <a:ea typeface="Arial"/>
                <a:cs typeface="Arial"/>
              </a:rPr>
              <a:t>An adaptive, voice-first physics tutor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0DF70-4136-4A39-8582-0D443B0E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From first question to verified understanding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7E9E2-88E2-496A-80FF-C57DB0D0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8CDCA-57B1-4C41-9702-51717E9A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Current working build</a:t>
            </a:r>
          </a:p>
          <a:p xmlns:a="http://schemas.openxmlformats.org/drawingml/2006/main">
            <a:pPr algn="l">
              <a:defRPr sz="13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Local LLM  |  FastAPI  |  React  |  Voice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0FCD6-57D6-478D-80BE-F7E8FF53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82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F8298"/>
                </a:solidFill>
                <a:latin typeface="Arial"/>
                <a:ea typeface="Arial"/>
                <a:cs typeface="Arial"/>
              </a:rPr>
              <a:t>MisconceptionOS</a:t>
            </a:r>
          </a:p>
        </p:txBody>
      </p:sp>
    </p:spTree>
    <p:extLst>
      <p:ext uri="{BB962C8B-B14F-4D97-AF65-F5344CB8AC3E}">
        <p14:creationId xmlns:p14="http://schemas.microsoft.com/office/powerpoint/2010/main" val="1508237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3411E-32BE-4AA2-83C3-F7AEF439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508CA-F746-4617-BFB0-6553C96B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The tutoring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A9A4D-D4CC-4D37-913A-BE1340CA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C3DCF-5574-4DCC-B2C1-7E2C8EC5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29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8298"/>
                </a:solidFill>
                <a:latin typeface="Arial"/>
                <a:ea typeface="Arial"/>
                <a:cs typeface="Arial"/>
              </a:rPr>
              <a:t>LEARNABLE PHYSICS TUTOR  /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D6F73-1EF7-4247-8B04-E62DD5B9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A correct answer does not prove understanding.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45758-AA3D-4A9D-871D-95F9110E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Students need a teacher that can explain a concept, notice what they are actually asking, and adapt the next move.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44271-7A9C-4D2A-98FB-85A1B11C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C6271-FBFB-4FA9-AE1B-1A20AE53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D9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8D9D"/>
                </a:solidFill>
                <a:latin typeface="Arial"/>
                <a:ea typeface="Arial"/>
                <a:cs typeface="Arial"/>
              </a:rPr>
              <a:t>GENERIC CHATBOT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2BCD8-9F28-492A-823F-21B28C91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79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Answers the surface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9413A-5C61-417F-9BDC-85BDE206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Often misses the learner's misconception, level, or follow-up intent.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F027F-7B58-4103-8495-EAA97DEF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E5EA7-7DF5-402D-8F8F-BD477EF3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LEARNABLE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0350E-B821-4F40-B9F1-EF140502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57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Builds a mental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F7561-DFF2-4948-85A6-B5C8849F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Explains, checks doubts, probes reasoning, and verifies transfer.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A6C42-7CE1-4AF4-9DF0-FC75CD78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048000" cy="36385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9A507-5CF4-422E-8769-45FFB5A7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C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C8FF"/>
                </a:solidFill>
                <a:latin typeface="Arial"/>
                <a:ea typeface="Arial"/>
                <a:cs typeface="Arial"/>
              </a:rPr>
              <a:t>PHYSICS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E6DB2-C190-40D6-88A3-2D3B2FF0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From kinematics to quantum physics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03F20-91EA-406C-BD0F-92DC9C9F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2247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The tutor handles mechanics, energy, waves, optics, electricity, magnetism, thermodynamics, relativity, atomic, nuclear, and astrophysics topics.</a:t>
            </a:r>
          </a:p>
        </p:txBody>
      </p:sp>
    </p:spTree>
    <p:extLst>
      <p:ext uri="{BB962C8B-B14F-4D97-AF65-F5344CB8AC3E}">
        <p14:creationId xmlns:p14="http://schemas.microsoft.com/office/powerpoint/2010/main" val="20178817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9B864F-EB38-459E-94A1-7AF8BEC7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33D01-F4E4-495B-9452-2F893142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A lesson is a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1F4B3-0880-4619-A6A6-C89401DB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A40CA-2418-453E-A4B2-955CDBDF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29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8298"/>
                </a:solidFill>
                <a:latin typeface="Arial"/>
                <a:ea typeface="Arial"/>
                <a:cs typeface="Arial"/>
              </a:rPr>
              <a:t>LEARNABLE PHYSICS TUTOR  /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3E189-B339-4A29-9F6D-197B3F85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The student can start anywhere. The tutor keeps the learning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61BE4-4CFA-4590-A203-7C77067C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809750" cy="19812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A427E-2589-4B93-AACC-0C1D0356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787A1-B7AF-4EA0-9C8A-3AA829E7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Boot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FA3E9-9129-4696-8F95-11A00CED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Good morning, welcome to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2D484-8A0E-4489-B198-B8542A56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1475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0E194-EAFD-4A5A-9B75-0FF0D54A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1809750" cy="19812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C5BC9-FEBC-4E44-A697-875D6EB4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88CCF-AE8F-4C3C-95A5-A92092BC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1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Teach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71803-DCFE-499A-AA63-FAA8FE65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0525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66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Definition, intuition, governing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23853-E0B1-4A2D-BD05-DB398B5A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2E6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B2BB6-9D82-4678-9D8D-90259D81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24150"/>
            <a:ext cx="1809750" cy="19812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42B44"/>
          </a:solidFill>
          <a:ln xmlns:a="http://schemas.openxmlformats.org/drawingml/2006/main" w="9525">
            <a:solidFill>
              <a:srgbClr val="32E6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3BA86-9781-42B2-BD31-617AF3AA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71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81A8B-BCFB-4060-92DD-2CBE162C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Clarify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D74B8-A79E-4930-9562-1B22152C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0525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Answer the actual doubt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D201F-39C3-433F-8A65-BED31127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2E6D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3C01F-3BAF-4393-81D2-F2E7F424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24150"/>
            <a:ext cx="1809750" cy="19812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C001C-9E8C-4609-A185-0A7C647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141CD-EF49-44D8-A50F-6E43C4F8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71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Probe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2A1C0A-B0B5-43AB-9026-D8A0FAD8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0525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Ask the learner to reason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B149DF-588E-4250-84DE-CCB3EF83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1475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2E6D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EF6B4E-C52B-49AE-9F26-0956DDE9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1809750" cy="19812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E2DFB-9FFB-4CC0-9F49-26E3D4D4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87D5A-E8FC-416F-BECE-C7762030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71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150239-F718-424B-A485-B7843594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0525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Transfer to a fresh situation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4DDEE9-CEEC-4DB4-991F-D97B5DB2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2C8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2C8FF"/>
                </a:solidFill>
                <a:latin typeface="Arial"/>
                <a:ea typeface="Arial"/>
                <a:cs typeface="Arial"/>
              </a:rPr>
              <a:t>State transitions are explicit. Explanation quality stays adaptive.</a:t>
            </a:r>
          </a:p>
        </p:txBody>
      </p:sp>
    </p:spTree>
    <p:extLst>
      <p:ext uri="{BB962C8B-B14F-4D97-AF65-F5344CB8AC3E}">
        <p14:creationId xmlns:p14="http://schemas.microsoft.com/office/powerpoint/2010/main" val="478961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7074A-32A2-49CD-AE6C-5B4B9A2C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C23E7-521F-4FB7-B7A7-57A51414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Dynamic teaching in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D50E7-F1CA-4F28-8279-467D2449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B2425-A304-4965-BF1A-E326F63A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29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8298"/>
                </a:solidFill>
                <a:latin typeface="Arial"/>
                <a:ea typeface="Arial"/>
                <a:cs typeface="Arial"/>
              </a:rPr>
              <a:t>LEARNABLE PHYSICS TUTOR  /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BADC8-E190-4F54-BBC6-E3F37D70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The model uses the current question and the recent dialogue, not just a topic label.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A6B2F-7E23-4998-AE13-A3FAB628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143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E4D08-FBFD-4149-9BF6-FD6EE903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47B2E-5D32-4CD2-88F4-11D7A554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682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“What is the photoelectric effect?”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242CC-31B6-4121-A2F3-04F6E784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The system extracts an unfamiliar physics concept and routes it into teaching mode.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8BEDD-A0C3-4E6C-A366-3C170587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3143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42B44"/>
          </a:solidFill>
          <a:ln xmlns:a="http://schemas.openxmlformats.org/drawingml/2006/main" w="9525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1FC47-B26D-4FF1-8276-16855AFC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C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C8FF"/>
                </a:solidFill>
                <a:latin typeface="Arial"/>
                <a:ea typeface="Arial"/>
                <a:cs typeface="Arial"/>
              </a:rPr>
              <a:t>TUTOR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28A64-EBEC-4D9F-BC93-95A8009D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670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“Light can eject electrons from a metal when each photon carries enough energy.”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F0AB6-2887-4AC9-8F69-147D3957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624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54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It adds intuition, the governing relationship, and a check for understanding.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9795D-01B0-4B29-9A4C-BED3D3D5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29337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1907A-F2A2-4EE4-AC5C-879A80F0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C76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C76A"/>
                </a:solidFill>
                <a:latin typeface="Arial"/>
                <a:ea typeface="Arial"/>
                <a:cs typeface="Arial"/>
              </a:rPr>
              <a:t>NEXT TURN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5D5E5-665E-4F8C-BE08-7F5511E2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67050"/>
            <a:ext cx="2228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698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“Why does frequency matter more than brightness?”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48BC3-9D69-4CED-BA8C-67B1A37C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62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085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The follow-up uses the previous answer and targets the learner's exact confusion.</a:t>
            </a:r>
          </a:p>
        </p:txBody>
      </p:sp>
    </p:spTree>
    <p:extLst>
      <p:ext uri="{BB962C8B-B14F-4D97-AF65-F5344CB8AC3E}">
        <p14:creationId xmlns:p14="http://schemas.microsoft.com/office/powerpoint/2010/main" val="199214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EBDF7E-ACC6-445A-AE9A-0F360260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38A1A-1431-4281-B777-97D660DB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9164E-7DA8-4196-B1C3-F15D5F29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432F7-F901-4431-A07C-52B11CC7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29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8298"/>
                </a:solidFill>
                <a:latin typeface="Arial"/>
                <a:ea typeface="Arial"/>
                <a:cs typeface="Arial"/>
              </a:rPr>
              <a:t>LEARNABLE PHYSICS TUTOR  /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6C3B8-57A3-4562-A5A3-6DCDB937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A guarded conversation loop connects voice, memory, diagnosis, and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9F6C4-6B8D-4D10-AB57-51B3C3EF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809750" cy="19812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463E9-D7F6-4B18-B1F1-4EC02C8B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C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C8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2C470-63F4-44A3-83C2-E33BB6DB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Voice / 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BD1CB-3CFA-4469-B1DA-71FB132C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Web Speech</a:t>
            </a:r>
          </a:p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MediaRecorder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CDF27-73DA-47F5-BC27-1B3BDF62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1475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2E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3143C-3044-42C8-A00C-157A7B43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1809750" cy="19812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58061-CDC3-4314-A191-4CA30F07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C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C8FF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8BAC6-72FD-415E-B490-44E92B10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FastAPI + FSM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F147B-7C00-4229-AD0B-9D1E2DB2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LessonPhase</a:t>
            </a:r>
          </a:p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SocraticPolicy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8AD4E-D36D-49BE-90CB-6020A435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2E6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F3ADD-6968-4126-8001-59E65026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24150"/>
            <a:ext cx="1809750" cy="19812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D720A-E694-45A7-BBEA-A8829F2F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33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C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C8FF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3850F-CDDD-45CF-8261-CA91F3FD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5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Context + diagnosis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901D0-2B6B-4F7E-AD24-91630DA4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LearnerMemory</a:t>
            </a:r>
          </a:p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DiagnosticEngine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37E04-83CE-4803-AFA7-8BF7BDB5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2E6D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3A6A2-4198-449F-A2E2-777F566C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24150"/>
            <a:ext cx="1809750" cy="19812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42B44"/>
          </a:solidFill>
          <a:ln xmlns:a="http://schemas.openxmlformats.org/drawingml/2006/main" w="9525">
            <a:solidFill>
              <a:srgbClr val="32E6D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543110-BDD2-427B-A095-16863FCF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33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01F53-01F9-4052-B6BF-2E33AB29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679C71-2939-49F0-8D3C-CB8CAB26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052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Ollama</a:t>
            </a:r>
          </a:p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Physics prompt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B6FA57-F7A7-49EF-87E3-84EF605E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1475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2E6D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20FB28-9055-4A3A-ABD8-A0ACDB6F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1809750" cy="19812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3B3B05-B2BF-4EC6-9C97-18E9EFB2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C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C8FF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0C44DF-764B-4892-8AAA-3BE2EE70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33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Verify + speak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4CA930-86A6-4878-87CC-D2D42A1F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052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SafetyGuard</a:t>
            </a:r>
          </a:p>
          <a:p xmlns:a="http://schemas.openxmlformats.org/drawingml/2006/main">
            <a:pPr algn="l">
              <a:defRPr sz="120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Edge TTS / UI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2FF40B-C14A-4981-8155-DF87D4A9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Persistent learner state keeps the next turn aware of what came before.</a:t>
            </a:r>
          </a:p>
        </p:txBody>
      </p:sp>
    </p:spTree>
    <p:extLst>
      <p:ext uri="{BB962C8B-B14F-4D97-AF65-F5344CB8AC3E}">
        <p14:creationId xmlns:p14="http://schemas.microsoft.com/office/powerpoint/2010/main" val="803368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A987D6-04A1-43C8-A5CC-59279FB4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6133C-DCF5-40F2-AB13-51F796C1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329BA-29F8-4C7D-AFA9-9F8C402B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DC994-161D-4F93-86AA-82811096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29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8298"/>
                </a:solidFill>
                <a:latin typeface="Arial"/>
                <a:ea typeface="Arial"/>
                <a:cs typeface="Arial"/>
              </a:rPr>
              <a:t>LEARNABLE PHYSICS TUTOR  /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D6885-C1EA-4998-A173-AC8D22B4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Local-first components keep the tutoring loop fast, inspectable, and extensible.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6F576-E8A3-4E14-95F1-D62E612A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B8BCD-3B2D-4F5A-896C-8661F5E4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22743-260D-4238-986F-585C1BE4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384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React, Vite, Tailwind CSS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7CD90-51A6-4755-B4C0-CCDF817F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574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Voice-first studio, transcript, KaTeX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F2082-951C-4B91-BD02-DF33A35E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E2938-0B80-4C01-80B2-C5A57169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4D351-50E3-4B49-A7DB-25B869BC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194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FastAPI, Pydantic, Uvicorn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8A45D-4ADF-4DEB-A195-88C3ED10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38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Typed turns, audio endpoints, learner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9E141-9135-4405-8E3A-F5D53B63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8866E-1841-459F-984C-5DF94CB3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REASONING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58C1E-9A3F-4E47-8147-753297BE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0045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Ollama local 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6866C-F1D8-4C52-B3DA-6A27F440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19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Dialogue-aware physics explanations and probes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D2CCD-13A8-43E6-8C57-1E4B73CE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26BB0-C284-409F-ABC8-47955FA8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SPEECH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36F13-0E28-41B4-A832-39CA538F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8147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Web Speech + MediaRecorder + Edge TTS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18BB82-6630-4906-B5D9-B6E181AF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005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Live transcription, synthesized tutor voice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7AA58-218C-4C54-A8E2-1CFE6F4E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F88DFB-0864-4BAD-B763-AE2CE061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B1BD36-40E3-4911-8235-2EEF6AC2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JSON learner store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1F1C17-7127-4CBF-A2A8-9D9F2FED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81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Phase, topic, mastery, misconception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E365CA-9F03-4EA1-AE62-B4FAB87C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CE1104-B946-441A-9F55-BFBD1AB9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GROUNDING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D4AB0F-B2FE-4897-B5F1-ED934997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435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Local knowledge base + DuckDuckGo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0E172-B046-45CA-BF05-EA737273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625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Approved concepts and optional live context</a:t>
            </a:r>
          </a:p>
        </p:txBody>
      </p:sp>
    </p:spTree>
    <p:extLst>
      <p:ext uri="{BB962C8B-B14F-4D97-AF65-F5344CB8AC3E}">
        <p14:creationId xmlns:p14="http://schemas.microsoft.com/office/powerpoint/2010/main" val="16939260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95966-7CBC-496A-9972-34569BD5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A0F40-B8CA-46AC-8255-770C5554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Why this fits the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38E11-1B91-4BED-8533-82282757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1E573-18BF-47A9-ADCE-F4D59B38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29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8298"/>
                </a:solidFill>
                <a:latin typeface="Arial"/>
                <a:ea typeface="Arial"/>
                <a:cs typeface="Arial"/>
              </a:rPr>
              <a:t>LEARNABLE PHYSICS TUTOR  /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ABC74-B7CD-4B91-9527-D163AB49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F72F9-1DD7-4CAF-A12C-5A84A4B6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Adaptive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40578-8B66-43B8-9C3F-B004410B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The model reads the latest question with recent dialogue, so a follow-up changes the lesson.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637AB-35FC-4C7C-A255-EDEA51E6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601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7CB77-E69B-41CD-B603-F2B989A0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25915-1410-41FC-A6C0-5368BFDA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57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Socratic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D3570-243F-4CAC-8264-187A12C5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The tutor asks the learner to reason before it grants mastery.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4FE06-B709-4619-8334-B61CBD7B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81400"/>
            <a:ext cx="9601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13B1C-B00F-4036-89D3-3F9F9222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909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AB63F-4422-4E41-9681-16F5E0B8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F6A0F-19C8-42BC-A24D-8B17DB0D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Prompt injection detection and zero-leakage checks protect the teaching stance.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FCA47-69F6-4AD3-ACB8-7322A536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9601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44349-EF07-4044-A9F5-E92ED699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577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8E4C5-4FED-4FD0-9C48-6FA55408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91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Measurable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999FB-C97F-47EB-AC62-004B707C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101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The system stores evidence, misconceptions, phase, and mastery signals.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C0692-5DBA-4549-9B2D-F8C5C687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9601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</p:spTree>
    <p:extLst>
      <p:ext uri="{BB962C8B-B14F-4D97-AF65-F5344CB8AC3E}">
        <p14:creationId xmlns:p14="http://schemas.microsoft.com/office/powerpoint/2010/main" val="428768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05F8B-7821-4002-8396-BBAD5395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3461D-DB99-470A-AD16-F9181822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Current working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22F95-4764-46FD-A23E-ACF0E6F1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B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7DBF9-ECFA-4DFB-A185-53D68C87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829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8298"/>
                </a:solidFill>
                <a:latin typeface="Arial"/>
                <a:ea typeface="Arial"/>
                <a:cs typeface="Arial"/>
              </a:rPr>
              <a:t>LEARNABLE PHYSICS TUTOR  /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26034-4D9E-42C5-9A54-78CF16D0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The core experience is running end to 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6789A-1C2D-4A6E-8B64-0A5AF58C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0482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4D55A-16EC-4C29-BA99-AC03C3D4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LIVE FLOW 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9FD07-B950-4F58-9037-50AE9B2A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Voice boot greeting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53B3E-EEC1-4107-A57D-D6CE2B50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Topic teaching for physics concepts</a:t>
            </a:r>
          </a:p>
          <a:p xmlns:a="http://schemas.openxmlformats.org/drawingml/2006/main">
            <a:pPr algn="l">
              <a:defRPr sz="13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Contextual doubt resolution</a:t>
            </a:r>
          </a:p>
          <a:p xmlns:a="http://schemas.openxmlformats.org/drawingml/2006/main">
            <a:pPr algn="l">
              <a:defRPr sz="13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Dynamic follow-up examples</a:t>
            </a:r>
          </a:p>
          <a:p xmlns:a="http://schemas.openxmlformats.org/drawingml/2006/main">
            <a:pPr algn="l">
              <a:defRPr sz="1350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Socratic challenge and transfer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41F7B-B62A-49DF-BEE2-0E0F6004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8196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267BB-A293-410A-9D78-54D09839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C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C8FF"/>
                </a:solidFill>
                <a:latin typeface="Arial"/>
                <a:ea typeface="Arial"/>
                <a:cs typeface="Arial"/>
              </a:rPr>
              <a:t>EXAMPLES 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FC414-B528-4F9F-A889-CD423A40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Thermodynamics</a:t>
            </a:r>
          </a:p>
          <a:p xmlns:a="http://schemas.openxmlformats.org/drawingml/2006/main">
            <a:pPr algn="l">
              <a:defRPr sz="17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Optics</a:t>
            </a:r>
          </a:p>
          <a:p xmlns:a="http://schemas.openxmlformats.org/drawingml/2006/main">
            <a:pPr algn="l">
              <a:defRPr sz="17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Photoelectric effect</a:t>
            </a:r>
          </a:p>
          <a:p xmlns:a="http://schemas.openxmlformats.org/drawingml/2006/main">
            <a:pPr algn="l">
              <a:defRPr sz="17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Conservation of energy</a:t>
            </a:r>
          </a:p>
          <a:p xmlns:a="http://schemas.openxmlformats.org/drawingml/2006/main">
            <a:pPr algn="l">
              <a:defRPr sz="17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Dynamics and Newton's laws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FE0FC-38CE-479D-A6B4-61827FFC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2E6D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2E6D0"/>
                </a:solidFill>
                <a:latin typeface="Arial"/>
                <a:ea typeface="Arial"/>
                <a:cs typeface="Arial"/>
              </a:rPr>
              <a:t>The model can extend beyond this list to unfamiliar physics concepts.</a:t>
            </a:r>
          </a:p>
        </p:txBody>
      </p:sp>
    </p:spTree>
    <p:extLst>
      <p:ext uri="{BB962C8B-B14F-4D97-AF65-F5344CB8AC3E}">
        <p14:creationId xmlns:p14="http://schemas.microsoft.com/office/powerpoint/2010/main" val="18614536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A0E6A-849C-47BA-AE2B-CA9F4670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LearnAble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E7DCE-55E9-41C4-8979-7692F6A6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57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62C8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62C8FF"/>
                </a:solidFill>
                <a:latin typeface="Arial"/>
                <a:ea typeface="Arial"/>
                <a:cs typeface="Arial"/>
              </a:rPr>
              <a:t>A physics tutor that adapts to the learner, not just the syllabus.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BDC7E-CAF7-4CAF-AFF5-79E946A1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2E6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8127B-3BB2-44A1-9DA2-F5E74E01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936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9B8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9B8C9"/>
                </a:solidFill>
                <a:latin typeface="Arial"/>
                <a:ea typeface="Arial"/>
                <a:cs typeface="Arial"/>
              </a:rPr>
              <a:t>The next step is deeper evaluation across physics misconceptions and student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375A7-D253-43FC-892D-127F6D1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82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F8298"/>
                </a:solidFill>
                <a:latin typeface="Arial"/>
                <a:ea typeface="Arial"/>
                <a:cs typeface="Arial"/>
              </a:rPr>
              <a:t>MisconceptionOS  /  Yuva Megathon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54D6D-CB2B-44BC-AC8B-A7A6C2F6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6685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142B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43AE5-F93A-49C5-8BC0-AEB20DE2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47850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2E6D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1E9FC-10C7-4F8D-8DEA-25188E98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45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7111F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189604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2026-09-29T03:09:26.2620000Z</dcterms:created>
  <dcterms:modified xsi:type="dcterms:W3CDTF">2026-09-29T03:09:26.2620000Z</dcterms:modified>
</coreProperties>
</file>